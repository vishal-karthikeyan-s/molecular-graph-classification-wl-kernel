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240"/>
          </a:solidFill>
          <a:ln>
            <a:solidFill>
              <a:srgbClr val="0F2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93C5FD"/>
                </a:solidFill>
              </a:defRPr>
            </a:pPr>
            <a:r>
              <a:t>MACHINE LEARNING WITH GRAPHS | COURSE CODE: 23CSE479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</a:defRPr>
            </a:pPr>
            <a:r>
              <a:t>Molecular Graph Classification Using the</a:t>
            </a:r>
            <a:br/>
            <a:r>
              <a:t>Weisfeiler–Lehman Subtree Kernel</a:t>
            </a:r>
          </a:p>
          <a:p>
            <a:pPr>
              <a:spcAft>
                <a:spcPts val="2800"/>
              </a:spcAft>
              <a:defRPr sz="1800">
                <a:solidFill>
                  <a:srgbClr val="CBD5E1"/>
                </a:solidFill>
              </a:defRPr>
            </a:pPr>
            <a:r>
              <a:t>Comparative Benchmark against Graph Convolutional Networks (GCN) on the NCI1 Dataset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Author: Vishal Karthikeyan S  |  GitHub: github.com/Vishal-Karthikeyan-S</a:t>
            </a:r>
            <a:br/>
            <a:r>
              <a:t>Algorithm Implemented Strictly from Scratch  |  Reproducible Benchmarks &amp; Interactive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MACHINE LEARNING WITH GRAPHS (23CSE479)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Problem Formulation: Chemoinformatics &amp; Graph Representation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F2240"/>
                </a:solidFill>
              </a:defRPr>
            </a:pPr>
            <a:r>
              <a:t>1. The Molecular Domain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Molecules are naturally represented as undirected attributed graphs:</a:t>
            </a:r>
            <a:br/>
            <a:br/>
            <a:r>
              <a:t>• Nodes: Atoms with categorical labels (C, N, O, S, halogens)</a:t>
            </a:r>
            <a:br/>
            <a:r>
              <a:t>• Edges: Chemical covalent bonds</a:t>
            </a:r>
            <a:br/>
            <a:r>
              <a:t>• Challenge: Invariance to atom ordering (graph isomorphism) and variable molecular sizes.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F2240"/>
                </a:solidFill>
              </a:defRPr>
            </a:pPr>
            <a:r>
              <a:t>2. The NCI1 Benchmark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National Cancer Institute screen for anti-cancer chemical activity:</a:t>
            </a:r>
            <a:br/>
            <a:br/>
            <a:r>
              <a:t>• 4,110 chemical compounds</a:t>
            </a:r>
            <a:br/>
            <a:r>
              <a:t>• Target: Binary classification (Active cancer inhibitor vs. Inactive)</a:t>
            </a:r>
            <a:br/>
            <a:r>
              <a:t>• Highly balanced: 2,053 Class 0 / 2,057 Class 1</a:t>
            </a:r>
            <a:br/>
            <a:r>
              <a:t>• Mean size: ~29.9 atoms per molecule.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F2240"/>
                </a:solidFill>
              </a:defRPr>
            </a:pPr>
            <a:r>
              <a:t>3. Core Research Question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Can classical deterministic subtree kernels outperform modern deep Graph Neural Networks?</a:t>
            </a:r>
            <a:br/>
            <a:br/>
            <a:r>
              <a:t>• Compare 1-WL Subtree Kernel (from scratch)</a:t>
            </a:r>
            <a:br/>
            <a:r>
              <a:t>• Conventional graph-level feature baseline</a:t>
            </a:r>
            <a:br/>
            <a:r>
              <a:t>• 3-Layer Graph Convolutional Network (GCN)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MACHINE LEARNING WITH GRAPHS (23CSE479)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Mathematical Foundations: 1-WL Subtree Kernel from Scratch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621792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852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2240"/>
                </a:solidFill>
              </a:defRPr>
            </a:pPr>
            <a:r>
              <a:t>Step-by-Step 1-WL Algorithm (Shervashidze et al., 2011):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1. Initialization (t = 0): Assign each atom its categorical label ℓ₀(v) = atom_type(v).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2. Neighborhood Multiset Aggregation: For each atom v, gather neighbor labels:</a:t>
            </a:r>
            <a:br/>
            <a:r>
              <a:t>   𝓡_t(v) = { ℓ_{t-1}(u) : u ∈ 𝒩(v) }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3. Deterministic Sorting &amp; Hash Compression:</a:t>
            </a:r>
            <a:br/>
            <a:r>
              <a:t>   ℓ_t(v) = hash( t, ℓ_{t-1}(v), sort(𝓡_t(v)) )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4. Subtree Histogram Counting: Compute occurrence counts of all discovered subtree labels:</a:t>
            </a:r>
            <a:br/>
            <a:r>
              <a:t>   ϕ_t(G) = [ c(G, σ₁)  c(G, σ₂) … c(G, σ_{|Σ_t|}) ]ᵀ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5. Kernel Gram Matrix: Evaluate inner products with cosine normalization:</a:t>
            </a:r>
            <a:br/>
            <a:r>
              <a:t>   K_norm(Gᵢ, Gⱼ) = ⟨ϕ(Gᵢ), ϕ(Gⱼ)⟩ / ( ‖ϕ(Gᵢ)‖₂ · ‖ϕ(Gⱼ)‖₂ 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45920"/>
            <a:ext cx="4297680" cy="4389120"/>
          </a:xfrm>
          <a:prstGeom prst="roundRect">
            <a:avLst/>
          </a:prstGeom>
          <a:solidFill>
            <a:srgbClr val="EEF2FF"/>
          </a:solidFill>
          <a:ln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828800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Implementation &amp; Complexity: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Scratch Implementation: Strictly manual in src/wl_kernel.py without GraKeL or NetworkX kernel tools.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Time Complexity: 𝒪(h · N · m) for feature extraction across N graphs with m edges.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Memory &amp; Sparse Matrix: Uses scipy.sparse.csr_matrix with space bounded by 𝒪(N · n · h).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Mercer Guarantee: K is proven symmetric (K = Kᵀ) and positive semi-definite (λᵢ ≥ 0).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Zero Data Leakage: Vocabulary fitted solely on train graphs; K_test_train (N_test × N_train) evaluated properly.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MACHINE LEARNING WITH GRAPHS (23CSE479)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Algorithmic Walkthrough: Distinguishing Cycle C3 vs Path P3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2240"/>
                </a:solidFill>
              </a:defRPr>
            </a:pPr>
            <a:r>
              <a:t>The Setup: Identical Node Counts &amp; Labels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Consider two distinct graphs with 3 identical atoms [1, 1, 1]:</a:t>
            </a:r>
            <a:br/>
            <a:br/>
            <a:r>
              <a:t>• Graph A (C₃ Cycle): Triangle edges (0-1, 1-2, 2-0)</a:t>
            </a:r>
            <a:br/>
            <a:r>
              <a:t>  Every atom has degree = 2.</a:t>
            </a:r>
            <a:br/>
            <a:br/>
            <a:r>
              <a:t>• Graph B (P₃ Path): Linear chain edges (0-1, 1-2)</a:t>
            </a:r>
            <a:br/>
            <a:r>
              <a:t>  Endpoint atoms have degree = 1; center atom has degree = 2.</a:t>
            </a:r>
            <a:br/>
            <a:br/>
            <a:r>
              <a:t>At Iteration h = 0:</a:t>
            </a:r>
            <a:br/>
            <a:r>
              <a:t>Both graphs produce identical feature vectors: ϕ₀ = [3.0]</a:t>
            </a:r>
            <a:br/>
            <a:r>
              <a:t>A naive 'bag of atoms' model cannot tell them apart!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563EB"/>
                </a:solidFill>
              </a:defRPr>
            </a:pPr>
            <a:r>
              <a:t>At Iteration h = 1: Topological Partitioning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Neighborhood Signatures at h = 1:</a:t>
            </a:r>
            <a:br/>
            <a:br/>
            <a:r>
              <a:t>• For C₃: All 3 nodes have signature (1, 0, (0, 0)) → ID 1</a:t>
            </a:r>
            <a:br/>
            <a:r>
              <a:t>  ϕ(C₃) = [3, 3, 0]ᵀ</a:t>
            </a:r>
            <a:br/>
            <a:br/>
            <a:r>
              <a:t>• For P₃: Center node signature (1, 0, (0, 0)) → ID 1</a:t>
            </a:r>
            <a:br/>
            <a:r>
              <a:t>  Two endpoints signature (1, 0, (0,)) → ID 2</a:t>
            </a:r>
            <a:br/>
            <a:r>
              <a:t>  ϕ(P₃) = [3, 1, 2]ᵀ</a:t>
            </a:r>
            <a:br/>
            <a:br/>
            <a:r>
              <a:t>Resulting Kernel Gram Matrix:</a:t>
            </a:r>
            <a:br/>
            <a:r>
              <a:t>  K = ⎡ 18   12 ⎤</a:t>
            </a:r>
            <a:br/>
            <a:r>
              <a:t>      ⎣ 12   14 ⎦</a:t>
            </a:r>
            <a:br/>
            <a:br/>
            <a:r>
              <a:t>Normalized similarity: 12 / √(18 · 14) = 0.7559 &lt; 1.0</a:t>
            </a:r>
            <a:br/>
            <a:r>
              <a:t>1-WL successfully separates the cycle from the path!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MACHINE LEARNING WITH GRAPHS (23CSE479)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End-to-End System Pipeline &amp;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011680" cy="34747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828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2240"/>
                </a:solidFill>
              </a:defRPr>
            </a:pPr>
            <a:r>
              <a:t>1. Ingestion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NCI1 Dataset</a:t>
            </a:r>
            <a:br/>
            <a:r>
              <a:t>• 4,110 molecules</a:t>
            </a:r>
            <a:br/>
            <a:r>
              <a:t>• PyG TUDataset</a:t>
            </a:r>
            <a:br/>
            <a:r>
              <a:t>• Atom &amp; bond parsing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2011680"/>
            <a:ext cx="2011680" cy="3474720"/>
          </a:xfrm>
          <a:prstGeom prst="roundRect">
            <a:avLst/>
          </a:prstGeom>
          <a:solidFill>
            <a:srgbClr val="EEF2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2194560"/>
            <a:ext cx="1828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2240"/>
                </a:solidFill>
              </a:defRPr>
            </a:pPr>
            <a:r>
              <a:t>2. Preprocessing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MolecularGraph</a:t>
            </a:r>
            <a:br/>
            <a:r>
              <a:t>• Node label mapping</a:t>
            </a:r>
            <a:br/>
            <a:r>
              <a:t>• Adjacency lists</a:t>
            </a:r>
            <a:br/>
            <a:r>
              <a:t>• Data validation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011680"/>
            <a:ext cx="2011680" cy="34747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2194560"/>
            <a:ext cx="1828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2240"/>
                </a:solidFill>
              </a:defRPr>
            </a:pPr>
            <a:r>
              <a:t>3. WL Kernel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Subtree Relabeling</a:t>
            </a:r>
            <a:br/>
            <a:r>
              <a:t>• Depths h=0,1,2,3</a:t>
            </a:r>
            <a:br/>
            <a:r>
              <a:t>• Sparse histograms</a:t>
            </a:r>
            <a:br/>
            <a:r>
              <a:t>• Gram matrix 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9" y="2011680"/>
            <a:ext cx="2011680" cy="3474720"/>
          </a:xfrm>
          <a:prstGeom prst="roundRect">
            <a:avLst/>
          </a:prstGeom>
          <a:solidFill>
            <a:srgbClr val="EEF2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39" y="2194560"/>
            <a:ext cx="1828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2240"/>
                </a:solidFill>
              </a:defRPr>
            </a:pPr>
            <a:r>
              <a:t>4. Learning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Precomputed SVM</a:t>
            </a:r>
            <a:br/>
            <a:r>
              <a:t>• Strict train-test</a:t>
            </a:r>
            <a:br/>
            <a:r>
              <a:t>• Decision margins</a:t>
            </a:r>
            <a:br/>
            <a:r>
              <a:t>• Grid search 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2011680"/>
            <a:ext cx="2011680" cy="34747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0" y="2194560"/>
            <a:ext cx="1828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2240"/>
                </a:solidFill>
              </a:defRPr>
            </a:pPr>
            <a:r>
              <a:t>5. Baselines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Fair Comparison</a:t>
            </a:r>
            <a:br/>
            <a:r>
              <a:t>• Graph features SVM</a:t>
            </a:r>
            <a:br/>
            <a:r>
              <a:t>• 3-layer GCN (PyG)</a:t>
            </a:r>
            <a:br/>
            <a:r>
              <a:t>• Early stopping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MACHINE LEARNING WITH GRAPHS (23CSE479)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Empirical Benchmark Results on NCI1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463040"/>
                <a:gridCol w="1463040"/>
                <a:gridCol w="1463040"/>
                <a:gridCol w="1463040"/>
                <a:gridCol w="1463040"/>
              </a:tblGrid>
              <a:tr h="627017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Train Time</a:t>
                      </a:r>
                    </a:p>
                  </a:txBody>
                  <a:tcPr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0F2240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Graph Feature Baseline + 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66.25%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0.6494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0.7125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0.042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WL Subtree Kernel (h=0) + SVM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52.50%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0.5929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0.5823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0.021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WL Subtree Kernel (h=1) + 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65.83%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0.6273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0.7078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0.042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WL Subtree Kernel (h=2) + SVM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71.25%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0.6849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0.7685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0.062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2,162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2240"/>
                          </a:solidFill>
                        </a:defRPr>
                      </a:pPr>
                      <a:r>
                        <a:t>WL Subtree Kernel (h=3) + SVM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2240"/>
                          </a:solidFill>
                        </a:defRPr>
                      </a:pPr>
                      <a:r>
                        <a:t>75.00%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2240"/>
                          </a:solidFill>
                        </a:defRPr>
                      </a:pPr>
                      <a:r>
                        <a:t>0.7321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2240"/>
                          </a:solidFill>
                        </a:defRPr>
                      </a:pPr>
                      <a:r>
                        <a:t>0.7881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2240"/>
                          </a:solidFill>
                        </a:defRPr>
                      </a:pPr>
                      <a:r>
                        <a:t>0.083 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2240"/>
                          </a:solidFill>
                        </a:defRPr>
                      </a:pPr>
                      <a:r>
                        <a:t>10,282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3-Layer GCN (PyG Baseline)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67.08%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0.6638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0.7594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41.307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Latent (64-d)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MACHINE LEARNING WITH GRAPHS (23CSE479)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Effect of Subtree Depth (h=0 to h=3) on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2240"/>
                </a:solidFill>
              </a:defRPr>
            </a:pPr>
            <a:r>
              <a:t>Subtree Horizon &amp; Chemical Representation:</a:t>
            </a:r>
          </a:p>
          <a:p>
            <a:pPr>
              <a:defRPr sz="1250">
                <a:solidFill>
                  <a:srgbClr val="1E293B"/>
                </a:solidFill>
              </a:defRPr>
            </a:pPr>
            <a:r>
              <a:t>• h = 0 (Bag-of-Atoms): 52.50% Accuracy</a:t>
            </a:r>
            <a:br/>
            <a:r>
              <a:t>  Only counts raw atom types. Disregards connectivity entirely.</a:t>
            </a:r>
            <a:br/>
            <a:br/>
            <a:r>
              <a:t>• h = 1 (1-Hop Bond Environments): 65.83% (+13.33%)</a:t>
            </a:r>
            <a:br/>
            <a:r>
              <a:t>  Captures immediate functional groups (e.g. carbonyls C=O, hydroxyls -OH).</a:t>
            </a:r>
            <a:br/>
            <a:br/>
            <a:r>
              <a:t>• h = 2 (2-Hop Extended Substructures): 71.25% (+5.42%)</a:t>
            </a:r>
            <a:br/>
            <a:r>
              <a:t>  Resolves aromatic rings, conjugate bonds, and branched chains.</a:t>
            </a:r>
            <a:br/>
            <a:br/>
            <a:r>
              <a:t>• h = 3 (3-Hop Pharmacophore Motifs): 75.00% (+3.75%)</a:t>
            </a:r>
            <a:br/>
            <a:r>
              <a:t>  Encodes multi-atom spatial pharmacophores critical to cancer inhibition.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563EB"/>
                </a:solidFill>
              </a:defRPr>
            </a:pPr>
            <a:r>
              <a:t>Vocabulary Growth &amp; Diminishing Returns:</a:t>
            </a:r>
          </a:p>
          <a:p>
            <a:pPr>
              <a:defRPr sz="1250">
                <a:solidFill>
                  <a:srgbClr val="1E293B"/>
                </a:solidFill>
              </a:defRPr>
            </a:pPr>
            <a:r>
              <a:t>Vocabulary Expansion Across Depths:</a:t>
            </a:r>
            <a:br/>
            <a:r>
              <a:t>  h=0: 26 features</a:t>
            </a:r>
            <a:br/>
            <a:r>
              <a:t>  h=1: 206 features</a:t>
            </a:r>
            <a:br/>
            <a:r>
              <a:t>  h=2: 2,162 features</a:t>
            </a:r>
            <a:br/>
            <a:r>
              <a:t>  h=3: 10,282 features</a:t>
            </a:r>
            <a:br/>
            <a:br/>
            <a:r>
              <a:t>Key Research Insight:</a:t>
            </a:r>
            <a:br/>
            <a:r>
              <a:t>• As h increases beyond 3, subtree patterns become increasingly unique to single molecules.</a:t>
            </a:r>
            <a:br/>
            <a:r>
              <a:t>• Feature sparsity increases rapidly.</a:t>
            </a:r>
            <a:br/>
            <a:r>
              <a:t>• h=3 strikes an optimal trade-off between discriminative power and pattern sharing.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MACHINE LEARNING WITH GRAPHS (23CSE479)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Theoretical &amp; Computational Comparison: WL Kernel vs GCN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EEF2FF"/>
          </a:solidFill>
          <a:ln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F2240"/>
                </a:solidFill>
              </a:defRPr>
            </a:pPr>
            <a:r>
              <a:t>Weisfeiler–Lehman Subtree Kernel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Paradigm: Discrete Subtree Enumeration + SVM</a:t>
            </a:r>
            <a:br/>
            <a:r>
              <a:t>• Accuracy: 75.00% (Superior on NCI1)</a:t>
            </a:r>
            <a:br/>
            <a:r>
              <a:t>• Training Speed: 0.083 seconds (~500x faster)</a:t>
            </a:r>
            <a:br/>
            <a:r>
              <a:t>• Optimization: Globally optimal convex quadratic program</a:t>
            </a:r>
            <a:br/>
            <a:r>
              <a:t>• Determinism: 100% reproducible; zero stochastic variance</a:t>
            </a:r>
            <a:br/>
            <a:r>
              <a:t>• Inductive Bias: Exact discrete subgraph frequency match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4389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F2240"/>
                </a:solidFill>
              </a:defRPr>
            </a:pPr>
            <a:r>
              <a:t>Graph Convolutional Network (GCN)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Paradigm: Continuous Neural Message Passing (PyG)</a:t>
            </a:r>
            <a:br/>
            <a:r>
              <a:t>• Accuracy: 67.08%</a:t>
            </a:r>
            <a:br/>
            <a:r>
              <a:t>• Training Speed: 41.307 seconds (60 epochs)</a:t>
            </a:r>
            <a:br/>
            <a:r>
              <a:t>• Optimization: Non-convex SGD / Adam backpropagation</a:t>
            </a:r>
            <a:br/>
            <a:r>
              <a:t>• Limitations: Over-smoothing risk across layers; mean pooling bounded by 1-WL expressive limit (Xu et al., 2019)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MACHINE LEARNING WITH GRAPHS (23CSE479)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Interactive User Interface &amp; Streamlit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749808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327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293B"/>
                </a:solidFill>
              </a:defRPr>
            </a:pPr>
            <a:r>
              <a:t>📌 Project Overview:  Displays problem formulation, theoretical background, and key benchmark highlights in real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698480" cy="749808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87752"/>
            <a:ext cx="103327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293B"/>
                </a:solidFill>
              </a:defRPr>
            </a:pPr>
            <a:r>
              <a:t>📊 Dataset Explorer:  Inspects NCI1 statistics, class balance, atom counts, and renders interactive molecular graphs.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10698480" cy="749808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56432"/>
            <a:ext cx="103327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293B"/>
                </a:solidFill>
              </a:defRPr>
            </a:pPr>
            <a:r>
              <a:t>🔬 WL Kernel Explorer:  Step-by-step walkthrough of subtree relabeling on the C3 vs P3 example and live NCI1 compounds.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51959"/>
            <a:ext cx="10698480" cy="749808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25111"/>
            <a:ext cx="103327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293B"/>
                </a:solidFill>
              </a:defRPr>
            </a:pPr>
            <a:r>
              <a:t>📈 Empirical Model Comparison:  Interactive comparison tables, ROC-AUC metrics, confusion matrices, and runtime charts.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20640"/>
            <a:ext cx="10698480" cy="749808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193792"/>
            <a:ext cx="103327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293B"/>
                </a:solidFill>
              </a:defRPr>
            </a:pPr>
            <a:r>
              <a:t>🎯 Live Prediction Demo:  Select any molecule and observe real-time inference, ground truth, and signed SVM decision margin.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MACHINE LEARNING WITH GRAPHS (23CSE479)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Software Engineering &amp; Academic Quality Standards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2240"/>
                </a:solidFill>
              </a:defRPr>
            </a:pPr>
            <a:r>
              <a:t>Modular Architecture &amp; Separation of Concerns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src/data_loader.py: Automated download, fallback mirrors, inspection</a:t>
            </a:r>
            <a:br/>
            <a:r>
              <a:t>• src/preprocessing.py: Validated MolecularGraph dataclass</a:t>
            </a:r>
            <a:br/>
            <a:r>
              <a:t>• src/wl_kernel.py: 1-WL subtree kernel from scratch</a:t>
            </a:r>
            <a:br/>
            <a:r>
              <a:t>• src/wl_svm.py: Decoupled train-train &amp; test-train Gram matrices</a:t>
            </a:r>
            <a:br/>
            <a:r>
              <a:t>• src/baseline.py: Non-structural feature extraction &amp; SVM</a:t>
            </a:r>
            <a:br/>
            <a:r>
              <a:t>• src/gcn_model.py: 3-layer GCN with PyTorch Geometric</a:t>
            </a:r>
            <a:br/>
            <a:r>
              <a:t>• src/experiments.py: Automated benchmark harness</a:t>
            </a:r>
            <a:br/>
            <a:r>
              <a:t>• src/analysis.py &amp; src/visualization.py: Reporting and plots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563EB"/>
                </a:solidFill>
              </a:defRPr>
            </a:pPr>
            <a:r>
              <a:t>Automated Unit Tests &amp; Reproducibility</a:t>
            </a:r>
          </a:p>
          <a:p>
            <a:pPr>
              <a:defRPr sz="1250">
                <a:solidFill>
                  <a:srgbClr val="1E293B"/>
                </a:solidFill>
              </a:defRPr>
            </a:pPr>
            <a:r>
              <a:t>• 7 Passing Unit Tests (Pytest):</a:t>
            </a:r>
            <a:br/>
            <a:r>
              <a:t>  - Label updates &amp; feature dimensions</a:t>
            </a:r>
            <a:br/>
            <a:r>
              <a:t>  - Mathematical kernel symmetry K = K^T</a:t>
            </a:r>
            <a:br/>
            <a:r>
              <a:t>  - Nonnegative &amp; normalized diagonal entries</a:t>
            </a:r>
            <a:br/>
            <a:r>
              <a:t>  - Mercer positive semi-definiteness (eigenvalues &gt;= 0)</a:t>
            </a:r>
            <a:br/>
            <a:r>
              <a:t>  - Correct train-train &amp; test-train Gram shapes</a:t>
            </a:r>
            <a:br/>
            <a:r>
              <a:t>  - Deterministic feature extraction</a:t>
            </a:r>
            <a:br/>
            <a:r>
              <a:t>  - Hand-constructed C3 vs P3 separation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MACHINE LEARNING WITH GRAPHS (23CSE479)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Deployment Workflow &amp; GitHub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EEF2FF"/>
          </a:solidFill>
          <a:ln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2240"/>
                </a:solidFill>
              </a:defRPr>
            </a:pPr>
            <a:r>
              <a:t>GitHub Repository Setup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User GitHub: github.com/Vishal-Karthikeyan-S</a:t>
            </a:r>
            <a:br/>
            <a:br/>
            <a:r>
              <a:t>Steps to publish to GitHub:</a:t>
            </a:r>
            <a:br/>
            <a:r>
              <a:t>1. Initialize Git repository:</a:t>
            </a:r>
            <a:br/>
            <a:r>
              <a:t>   git init</a:t>
            </a:r>
            <a:br/>
            <a:r>
              <a:t>2. Add remote origin:</a:t>
            </a:r>
            <a:br/>
            <a:r>
              <a:t>   git remote add origin https://github.com/Vishal-Karthikeyan-S/Molecular-Graph-Classification-WL-Kernel.git</a:t>
            </a:r>
            <a:br/>
            <a:r>
              <a:t>3. Commit and push:</a:t>
            </a:r>
            <a:br/>
            <a:r>
              <a:t>   git add .</a:t>
            </a:r>
            <a:br/>
            <a:r>
              <a:t>   git commit -m 'Initial commit: Molecular graph classification with WL kernel'</a:t>
            </a:r>
            <a:br/>
            <a:r>
              <a:t>   git branch -M main</a:t>
            </a:r>
            <a:br/>
            <a:r>
              <a:t>   git push -u origin main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563EB"/>
                </a:solidFill>
              </a:defRPr>
            </a:pPr>
            <a:r>
              <a:t>Streamlit Community Cloud Deployment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Zero-Configuration Deployment on Streamlit Cloud:</a:t>
            </a:r>
            <a:br/>
            <a:br/>
            <a:r>
              <a:t>1. Visit share.streamlit.io and sign in with GitHub.</a:t>
            </a:r>
            <a:br/>
            <a:r>
              <a:t>2. Click 'New App'.</a:t>
            </a:r>
            <a:br/>
            <a:r>
              <a:t>3. Select repository: Vishal-Karthikeyan-S/Molecular-Graph-Classification-WL-Kernel</a:t>
            </a:r>
            <a:br/>
            <a:r>
              <a:t>4. Branch: main</a:t>
            </a:r>
            <a:br/>
            <a:r>
              <a:t>5. Main file path: app.py</a:t>
            </a:r>
            <a:br/>
            <a:r>
              <a:t>6. Click Deploy!</a:t>
            </a:r>
            <a:br/>
            <a:br/>
            <a:r>
              <a:t>The application automatically downloads NCI1 raw data and runs with cached performance.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240"/>
          </a:solidFill>
          <a:ln>
            <a:solidFill>
              <a:srgbClr val="0F2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1">
                <a:solidFill>
                  <a:srgbClr val="93C5FD"/>
                </a:solidFill>
              </a:defRPr>
            </a:pPr>
            <a:r>
              <a:t>CONCLUSIONS &amp; KEY TAKEAWAYS</a:t>
            </a:r>
          </a:p>
          <a:p>
            <a:pPr>
              <a:spcAft>
                <a:spcPts val="2400"/>
              </a:spcAft>
              <a:defRPr sz="1600">
                <a:solidFill>
                  <a:srgbClr val="FFFFFF"/>
                </a:solidFill>
              </a:defRPr>
            </a:pPr>
            <a:r>
              <a:t>1. Superiority of Neighborhood Relabeling:</a:t>
            </a:r>
            <a:br/>
            <a:r>
              <a:t>   The 1-WL subtree kernel achieves 75.00% accuracy on NCI1, demonstrating that discrete</a:t>
            </a:r>
            <a:br/>
            <a:r>
              <a:t>   subtree patterns represent localized chemical motifs far more effectively than global graph features (66.25%).</a:t>
            </a:r>
            <a:br/>
            <a:br/>
            <a:r>
              <a:t>2. Algorithmic Efficiency:</a:t>
            </a:r>
            <a:br/>
            <a:r>
              <a:t>   The WL kernel is ~500x faster to train than a standard GCN while yielding higher accuracy,</a:t>
            </a:r>
            <a:br/>
            <a:r>
              <a:t>   proving that classical graph kernels remain exceptionally strong baselines in chemoinformatics.</a:t>
            </a:r>
            <a:br/>
            <a:br/>
            <a:r>
              <a:t>3. Complete Academic Deliverable:</a:t>
            </a:r>
            <a:br/>
            <a:r>
              <a:t>   • From-scratch algorithmic implementation with unit testing</a:t>
            </a:r>
            <a:br/>
            <a:r>
              <a:t>   • Rigorous fair benchmarking preventing test data leakage</a:t>
            </a:r>
            <a:br/>
            <a:r>
              <a:t>   • Cloud-ready interactive Streamlit interface &amp; complete academic documentation</a:t>
            </a:r>
          </a:p>
          <a:p>
            <a:pPr>
              <a:defRPr sz="1500" b="1">
                <a:solidFill>
                  <a:srgbClr val="CBD5E1"/>
                </a:solidFill>
              </a:defRPr>
            </a:pPr>
            <a:r>
              <a:t>Thank You!  |  GitHub: github.com/Vishal-Karthikeyan-S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